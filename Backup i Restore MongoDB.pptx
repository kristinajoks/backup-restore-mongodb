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8" r:id="rId3"/>
    <p:sldId id="257" r:id="rId4"/>
    <p:sldId id="265" r:id="rId5"/>
    <p:sldId id="267" r:id="rId6"/>
    <p:sldId id="268" r:id="rId7"/>
    <p:sldId id="269" r:id="rId8"/>
    <p:sldId id="274" r:id="rId9"/>
    <p:sldId id="270" r:id="rId10"/>
    <p:sldId id="271" r:id="rId11"/>
    <p:sldId id="272" r:id="rId12"/>
    <p:sldId id="273" r:id="rId13"/>
    <p:sldId id="275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76" d="100"/>
          <a:sy n="76" d="100"/>
        </p:scale>
        <p:origin x="260" y="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007533" y="0"/>
            <a:ext cx="7934348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8941881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611808" y="3428998"/>
            <a:ext cx="5518066" cy="2268559"/>
          </a:xfrm>
        </p:spPr>
        <p:txBody>
          <a:bodyPr anchor="t">
            <a:normAutofit/>
          </a:bodyPr>
          <a:lstStyle>
            <a:lvl1pPr algn="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772274" y="2268786"/>
            <a:ext cx="5357600" cy="1160213"/>
          </a:xfrm>
        </p:spPr>
        <p:txBody>
          <a:bodyPr tIns="0" anchor="b">
            <a:normAutofit/>
          </a:bodyPr>
          <a:lstStyle>
            <a:lvl1pPr marL="0" indent="0" algn="r">
              <a:buNone/>
              <a:defRPr sz="1800" b="0">
                <a:solidFill>
                  <a:schemeClr val="tx1"/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B3A824-1A51-4B26-AD58-A6D8E14F6C04}" type="datetimeFigureOut">
              <a:rPr lang="en-US" dirty="0"/>
              <a:t>13-Nov-25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 rIns="45720"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sp>
        <p:nvSpPr>
          <p:cNvPr id="13" name="TextBox 12"/>
          <p:cNvSpPr txBox="1"/>
          <p:nvPr/>
        </p:nvSpPr>
        <p:spPr>
          <a:xfrm>
            <a:off x="2191282" y="3262852"/>
            <a:ext cx="41563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4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24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angle 28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D162C4-EDD9-4389-A98B-B87ECEA2A816}" type="datetimeFigureOut">
              <a:rPr lang="en-US" dirty="0"/>
              <a:t>13-Nov-25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2194943" y="641225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0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5" name="Rectangle 24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TextBox 10"/>
          <p:cNvSpPr txBox="1"/>
          <p:nvPr/>
        </p:nvSpPr>
        <p:spPr>
          <a:xfrm>
            <a:off x="2191843" y="2962586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0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609873" y="3147254"/>
            <a:ext cx="7956560" cy="1424746"/>
          </a:xfrm>
        </p:spPr>
        <p:txBody>
          <a:bodyPr anchor="t">
            <a:normAutofit/>
          </a:bodyPr>
          <a:lstStyle>
            <a:lvl1pPr algn="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773968" y="2268786"/>
            <a:ext cx="7791931" cy="878468"/>
          </a:xfrm>
        </p:spPr>
        <p:txBody>
          <a:bodyPr tIns="0" anchor="b">
            <a:normAutofit/>
          </a:bodyPr>
          <a:lstStyle>
            <a:lvl1pPr marL="0" indent="0" algn="r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5059C3-6A89-4494-99FF-5A4D6FFD50EB}" type="datetimeFigureOut">
              <a:rPr lang="en-US" dirty="0"/>
              <a:t>13-Nov-25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7" name="Rectangle 26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609873" y="805817"/>
            <a:ext cx="7950984" cy="108170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605374" y="2052116"/>
            <a:ext cx="3891960" cy="39978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666636" y="2052114"/>
            <a:ext cx="3894222" cy="399782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954B2F-12DE-47F5-8894-472B206D2E1E}" type="datetimeFigureOut">
              <a:rPr lang="en-US" dirty="0"/>
              <a:t>13-Nov-25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sp>
        <p:nvSpPr>
          <p:cNvPr id="10" name="TextBox 9"/>
          <p:cNvSpPr txBox="1"/>
          <p:nvPr/>
        </p:nvSpPr>
        <p:spPr>
          <a:xfrm>
            <a:off x="2196172" y="641223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0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1" name="Rectangle 20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2" name="TextBox 11"/>
          <p:cNvSpPr txBox="1"/>
          <p:nvPr/>
        </p:nvSpPr>
        <p:spPr>
          <a:xfrm>
            <a:off x="2193650" y="636424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0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609873" y="805818"/>
            <a:ext cx="7956560" cy="107834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609285" y="2052115"/>
            <a:ext cx="3896467" cy="713818"/>
          </a:xfrm>
        </p:spPr>
        <p:txBody>
          <a:bodyPr anchor="b">
            <a:noAutofit/>
          </a:bodyPr>
          <a:lstStyle>
            <a:lvl1pPr marL="0" indent="0" algn="l">
              <a:lnSpc>
                <a:spcPct val="100000"/>
              </a:lnSpc>
              <a:buNone/>
              <a:defRPr sz="2200" b="0" cap="none" baseline="0">
                <a:solidFill>
                  <a:schemeClr val="accent6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609285" y="2851331"/>
            <a:ext cx="3893623" cy="307143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666634" y="2052115"/>
            <a:ext cx="3899798" cy="713818"/>
          </a:xfrm>
        </p:spPr>
        <p:txBody>
          <a:bodyPr anchor="b">
            <a:noAutofit/>
          </a:bodyPr>
          <a:lstStyle>
            <a:lvl1pPr marL="0" indent="0" algn="l">
              <a:lnSpc>
                <a:spcPct val="100000"/>
              </a:lnSpc>
              <a:buNone/>
              <a:defRPr sz="2200" b="0" cap="none" baseline="0">
                <a:solidFill>
                  <a:schemeClr val="accent6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666635" y="2851331"/>
            <a:ext cx="3899798" cy="307143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30E46F-7819-4ACF-B48B-48222C2ACC88}" type="datetimeFigureOut">
              <a:rPr lang="en-US" dirty="0"/>
              <a:t>13-Nov-25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4" name="Rectangle 13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AF3416-4057-4DAA-829D-4CA07428D088}" type="datetimeFigureOut">
              <a:rPr lang="en-US" dirty="0"/>
              <a:t>13-Nov-25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sp>
        <p:nvSpPr>
          <p:cNvPr id="8" name="TextBox 7"/>
          <p:cNvSpPr txBox="1"/>
          <p:nvPr/>
        </p:nvSpPr>
        <p:spPr>
          <a:xfrm>
            <a:off x="2196172" y="641226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0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3" name="Rectangle 12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1D9284-D300-4297-87F7-E791DCC15DB1}" type="datetimeFigureOut">
              <a:rPr lang="en-US" dirty="0"/>
              <a:t>13-Nov-25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6" name="Rectangle 25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TextBox 9"/>
          <p:cNvSpPr txBox="1"/>
          <p:nvPr/>
        </p:nvSpPr>
        <p:spPr>
          <a:xfrm>
            <a:off x="1554154" y="1127550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0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70323" y="1282451"/>
            <a:ext cx="2664361" cy="1903241"/>
          </a:xfrm>
        </p:spPr>
        <p:txBody>
          <a:bodyPr anchor="b">
            <a:normAutofit/>
          </a:bodyPr>
          <a:lstStyle>
            <a:lvl1pPr algn="l"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20154" y="805818"/>
            <a:ext cx="5446278" cy="5244126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70322" y="3186154"/>
            <a:ext cx="2664361" cy="2386397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D525BB-DA17-4BA0-B3C8-3AC3ABC827E6}" type="datetimeFigureOut">
              <a:rPr lang="en-US" dirty="0"/>
              <a:t>13-Nov-25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0" name="Rectangle 19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47062" y="3229"/>
            <a:ext cx="4629734" cy="6858000"/>
          </a:xfrm>
          <a:solidFill>
            <a:schemeClr val="tx1">
              <a:alpha val="10000"/>
            </a:schemeClr>
          </a:solidFill>
          <a:ln w="9525" cap="sq">
            <a:noFill/>
            <a:miter lim="800000"/>
          </a:ln>
          <a:effectLst/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28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0" name="TextBox 9"/>
          <p:cNvSpPr txBox="1"/>
          <p:nvPr/>
        </p:nvSpPr>
        <p:spPr>
          <a:xfrm>
            <a:off x="1554686" y="1127550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0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71241" y="1282452"/>
            <a:ext cx="3970986" cy="1900473"/>
          </a:xfrm>
        </p:spPr>
        <p:txBody>
          <a:bodyPr anchor="b">
            <a:normAutofit/>
          </a:bodyPr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70322" y="3182928"/>
            <a:ext cx="3971874" cy="2386394"/>
          </a:xfrm>
        </p:spPr>
        <p:txBody>
          <a:bodyPr>
            <a:normAutofit/>
          </a:bodyPr>
          <a:lstStyle>
            <a:lvl1pPr marL="0" indent="0" algn="l">
              <a:buNone/>
              <a:defRPr sz="20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6C4C9A-3960-41CF-A4E9-2A8FB932454B}" type="datetimeFigureOut">
              <a:rPr lang="en-US" dirty="0"/>
              <a:t>13-Nov-25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" name="Rectangle 14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TextBox 8"/>
          <p:cNvSpPr txBox="1"/>
          <p:nvPr/>
        </p:nvSpPr>
        <p:spPr>
          <a:xfrm>
            <a:off x="2194236" y="641225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0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611808" y="808056"/>
            <a:ext cx="7954091" cy="107722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57E33E-8B18-4087-B112-809917729534}" type="datetimeFigureOut">
              <a:rPr lang="en-US" dirty="0"/>
              <a:t>13-Nov-25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6" name="Rectangle 15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TextBox 8"/>
          <p:cNvSpPr txBox="1"/>
          <p:nvPr/>
        </p:nvSpPr>
        <p:spPr>
          <a:xfrm rot="5400000">
            <a:off x="10337141" y="416061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0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239380" y="805818"/>
            <a:ext cx="1326519" cy="5244126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608751" y="970410"/>
            <a:ext cx="6466903" cy="507953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FFE419-2371-464F-8239-3959401C3561}" type="datetimeFigureOut">
              <a:rPr lang="en-US" dirty="0"/>
              <a:t>13-Nov-25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2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3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17"/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31794" y="2105202"/>
            <a:ext cx="9360205" cy="4752798"/>
          </a:xfrm>
          <a:prstGeom prst="rect">
            <a:avLst/>
          </a:prstGeom>
        </p:spPr>
      </p:pic>
      <p:pic>
        <p:nvPicPr>
          <p:cNvPr id="15" name="Picture 14"/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9867" cy="6858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0"/>
            <a:ext cx="964174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611808" y="808056"/>
            <a:ext cx="7958331" cy="1077229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773599" y="2052116"/>
            <a:ext cx="7796540" cy="39978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-810065" y="5270604"/>
            <a:ext cx="2662729" cy="182880"/>
          </a:xfrm>
          <a:prstGeom prst="rect">
            <a:avLst/>
          </a:prstGeom>
        </p:spPr>
        <p:txBody>
          <a:bodyPr vert="horz" lIns="91440" tIns="18288" rIns="91440" bIns="45720" rtlCol="0" anchor="t"/>
          <a:lstStyle>
            <a:lvl1pPr algn="r">
              <a:defRPr sz="80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fld id="{3CBC1C18-307B-4F68-A007-B5B542270E8D}" type="datetimeFigureOut">
              <a:rPr lang="en-US" dirty="0"/>
              <a:t>13-Nov-25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-2237130" y="3661144"/>
            <a:ext cx="5885352" cy="179176"/>
          </a:xfrm>
          <a:prstGeom prst="rect">
            <a:avLst/>
          </a:prstGeom>
        </p:spPr>
        <p:txBody>
          <a:bodyPr vert="horz" lIns="91440" tIns="45720" rIns="91440" bIns="18288" rtlCol="0" anchor="b"/>
          <a:lstStyle>
            <a:lvl1pPr algn="r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58407" y="164592"/>
            <a:ext cx="636727" cy="322851"/>
          </a:xfrm>
          <a:prstGeom prst="rect">
            <a:avLst/>
          </a:prstGeom>
        </p:spPr>
        <p:txBody>
          <a:bodyPr vert="horz" lIns="91440" tIns="45720" rIns="45720" bIns="45720" rtlCol="0" anchor="ctr"/>
          <a:lstStyle>
            <a:lvl1pPr algn="r">
              <a:defRPr sz="1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22F896-40B5-4ADD-8801-0D06FADFA09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57" name="Rectangle 56"/>
          <p:cNvSpPr/>
          <p:nvPr/>
        </p:nvSpPr>
        <p:spPr>
          <a:xfrm>
            <a:off x="962042" y="0"/>
            <a:ext cx="45719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algn="r" defTabSz="914400" rtl="0" eaLnBrk="1" latinLnBrk="0" hangingPunct="1">
        <a:lnSpc>
          <a:spcPct val="90000"/>
        </a:lnSpc>
        <a:spcBef>
          <a:spcPct val="0"/>
        </a:spcBef>
        <a:buNone/>
        <a:defRPr sz="3400" b="0" i="0" kern="1200" cap="none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344488" indent="-344488" algn="l" defTabSz="914400" rtl="0" eaLnBrk="1" latinLnBrk="0" hangingPunct="1">
        <a:lnSpc>
          <a:spcPct val="120000"/>
        </a:lnSpc>
        <a:spcBef>
          <a:spcPts val="10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2000" kern="120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795338" indent="-338138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800" kern="120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258888" indent="-344488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600" kern="120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709738" indent="-338138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400" kern="120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173288" indent="-344488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642616" indent="-338328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3108960" indent="-338328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575304" indent="-338328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4041648" indent="-338328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9E0F75-F756-435D-80FE-163DFBF5C0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996580" y="3588389"/>
            <a:ext cx="6422225" cy="2268559"/>
          </a:xfrm>
        </p:spPr>
        <p:txBody>
          <a:bodyPr>
            <a:normAutofit/>
          </a:bodyPr>
          <a:lstStyle/>
          <a:p>
            <a:pPr marL="0" marR="0" indent="457200" algn="ctr">
              <a:spcBef>
                <a:spcPts val="0"/>
              </a:spcBef>
              <a:spcAft>
                <a:spcPts val="200"/>
              </a:spcAft>
            </a:pPr>
            <a:r>
              <a:rPr lang="en-US" sz="2500" b="1" kern="1400" spc="-5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Backup/ Restore MongoDB </a:t>
            </a:r>
            <a:r>
              <a:rPr lang="en-US" sz="2500" b="1" kern="1400" spc="-5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baze</a:t>
            </a:r>
            <a:r>
              <a:rPr lang="en-US" sz="2500" b="1" kern="1400" spc="-5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500" b="1" kern="1400" spc="-5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podataka</a:t>
            </a:r>
            <a:endParaRPr lang="en-US" sz="2500" kern="1400" spc="-50" dirty="0">
              <a:effectLst/>
              <a:latin typeface="Calibri Light" panose="020F030202020403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7E0245B-6087-4112-9543-A4AC665910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5103" y="2242917"/>
            <a:ext cx="2143125" cy="2143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01914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1F320C-3A4E-43C6-BA40-12BBC42CC4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Sadr</a:t>
            </a:r>
            <a:r>
              <a:rPr lang="sr-Latn-RS" dirty="0">
                <a:latin typeface="Times New Roman" panose="02020603050405020304" pitchFamily="18" charset="0"/>
                <a:cs typeface="Times New Roman" panose="02020603050405020304" pitchFamily="18" charset="0"/>
              </a:rPr>
              <a:t>žaj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AD40A1-7426-45E9-AD58-6703B6020A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97730" y="1733334"/>
            <a:ext cx="7796540" cy="3997828"/>
          </a:xfrm>
        </p:spPr>
        <p:txBody>
          <a:bodyPr>
            <a:normAutofit/>
          </a:bodyPr>
          <a:lstStyle/>
          <a:p>
            <a:pPr algn="just"/>
            <a:r>
              <a:rPr lang="en-US" sz="1800" dirty="0" err="1"/>
              <a:t>Uvod</a:t>
            </a:r>
            <a:endParaRPr lang="en-US" sz="1800" dirty="0"/>
          </a:p>
          <a:p>
            <a:pPr algn="just"/>
            <a:r>
              <a:rPr lang="en-US" sz="1800" dirty="0" err="1"/>
              <a:t>Padovi</a:t>
            </a:r>
            <a:r>
              <a:rPr lang="en-US" sz="1800" dirty="0"/>
              <a:t> </a:t>
            </a:r>
            <a:r>
              <a:rPr lang="en-US" sz="1800" dirty="0" err="1"/>
              <a:t>i</a:t>
            </a:r>
            <a:r>
              <a:rPr lang="en-US" sz="1800" dirty="0"/>
              <a:t> </a:t>
            </a:r>
            <a:r>
              <a:rPr lang="en-US" sz="1800" dirty="0" err="1"/>
              <a:t>oporavak</a:t>
            </a:r>
            <a:endParaRPr lang="en-US" sz="1800" dirty="0"/>
          </a:p>
          <a:p>
            <a:pPr algn="just"/>
            <a:endParaRPr lang="en-US" sz="1800" dirty="0"/>
          </a:p>
          <a:p>
            <a:pPr algn="just"/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26088547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2F6530-1DD2-40E7-82D4-C14ECC8209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Uvod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97C668-3BEB-4106-A5B5-2504761B65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66823" y="1885286"/>
            <a:ext cx="6598337" cy="3357834"/>
          </a:xfrm>
        </p:spPr>
        <p:txBody>
          <a:bodyPr>
            <a:noAutofit/>
          </a:bodyPr>
          <a:lstStyle/>
          <a:p>
            <a:pPr algn="just"/>
            <a:r>
              <a:rPr lang="en-US" sz="1800" b="1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Padovi</a:t>
            </a:r>
            <a:r>
              <a:rPr lang="en-US" sz="1800" b="1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– </a:t>
            </a:r>
            <a:r>
              <a:rPr lang="en-US" sz="18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sastavni</a:t>
            </a:r>
            <a:r>
              <a:rPr lang="en-US" sz="18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deo </a:t>
            </a:r>
            <a:r>
              <a:rPr lang="en-US" sz="18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današnjih</a:t>
            </a:r>
            <a:r>
              <a:rPr lang="en-US" sz="18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baza</a:t>
            </a:r>
            <a:r>
              <a:rPr lang="en-US" sz="18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podataka</a:t>
            </a:r>
            <a:endParaRPr lang="en-US" sz="1800" dirty="0">
              <a:effectLst/>
              <a:latin typeface="Times New Roman" panose="02020603050405020304" pitchFamily="18" charset="0"/>
              <a:ea typeface="Calibri" panose="020F0502020204030204" pitchFamily="34" charset="0"/>
            </a:endParaRPr>
          </a:p>
          <a:p>
            <a:pPr algn="just"/>
            <a:r>
              <a:rPr lang="en-US" sz="18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Pad: </a:t>
            </a:r>
          </a:p>
          <a:p>
            <a:pPr lvl="1" algn="just"/>
            <a:r>
              <a:rPr lang="en-US" b="1" dirty="0" err="1">
                <a:latin typeface="Times New Roman" panose="02020603050405020304" pitchFamily="18" charset="0"/>
                <a:ea typeface="Calibri" panose="020F0502020204030204" pitchFamily="34" charset="0"/>
              </a:rPr>
              <a:t>Transakcije</a:t>
            </a:r>
            <a:r>
              <a:rPr lang="en-US" b="1" dirty="0"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dirty="0">
                <a:latin typeface="Times New Roman" panose="02020603050405020304" pitchFamily="18" charset="0"/>
                <a:ea typeface="Calibri" panose="020F0502020204030204" pitchFamily="34" charset="0"/>
              </a:rPr>
              <a:t>– </a:t>
            </a:r>
            <a:r>
              <a:rPr lang="en-US" dirty="0" err="1">
                <a:latin typeface="Times New Roman" panose="02020603050405020304" pitchFamily="18" charset="0"/>
                <a:ea typeface="Calibri" panose="020F0502020204030204" pitchFamily="34" charset="0"/>
              </a:rPr>
              <a:t>logička</a:t>
            </a:r>
            <a:r>
              <a:rPr lang="en-US" dirty="0"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Calibri" panose="020F0502020204030204" pitchFamily="34" charset="0"/>
              </a:rPr>
              <a:t>greška</a:t>
            </a:r>
            <a:r>
              <a:rPr lang="en-US" dirty="0">
                <a:latin typeface="Times New Roman" panose="02020603050405020304" pitchFamily="18" charset="0"/>
                <a:ea typeface="Calibri" panose="020F0502020204030204" pitchFamily="34" charset="0"/>
              </a:rPr>
              <a:t>, </a:t>
            </a:r>
            <a:r>
              <a:rPr lang="en-US" dirty="0" err="1">
                <a:latin typeface="Times New Roman" panose="02020603050405020304" pitchFamily="18" charset="0"/>
                <a:ea typeface="Calibri" panose="020F0502020204030204" pitchFamily="34" charset="0"/>
              </a:rPr>
              <a:t>izuzetak</a:t>
            </a:r>
            <a:endParaRPr lang="en-US" b="1" dirty="0">
              <a:latin typeface="Times New Roman" panose="02020603050405020304" pitchFamily="18" charset="0"/>
              <a:ea typeface="Calibri" panose="020F0502020204030204" pitchFamily="34" charset="0"/>
            </a:endParaRPr>
          </a:p>
          <a:p>
            <a:pPr lvl="1" algn="just"/>
            <a:r>
              <a:rPr lang="en-US" b="1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Sistema </a:t>
            </a:r>
            <a:r>
              <a:rPr lang="en-US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– </a:t>
            </a:r>
            <a:r>
              <a:rPr lang="en-US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fizički</a:t>
            </a:r>
            <a:r>
              <a:rPr lang="en-US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problemi</a:t>
            </a:r>
            <a:r>
              <a:rPr lang="en-US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, </a:t>
            </a:r>
            <a:r>
              <a:rPr lang="en-US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nestanak</a:t>
            </a:r>
            <a:r>
              <a:rPr lang="en-US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struje</a:t>
            </a:r>
            <a:r>
              <a:rPr lang="en-US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, </a:t>
            </a:r>
            <a:r>
              <a:rPr lang="en-US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greška</a:t>
            </a:r>
            <a:r>
              <a:rPr lang="en-US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OS </a:t>
            </a:r>
            <a:endParaRPr lang="en-US" b="1" dirty="0">
              <a:effectLst/>
              <a:latin typeface="Times New Roman" panose="02020603050405020304" pitchFamily="18" charset="0"/>
              <a:ea typeface="Calibri" panose="020F0502020204030204" pitchFamily="34" charset="0"/>
            </a:endParaRPr>
          </a:p>
          <a:p>
            <a:pPr lvl="1" algn="just"/>
            <a:r>
              <a:rPr lang="en-US" b="1" dirty="0" err="1">
                <a:latin typeface="Times New Roman" panose="02020603050405020304" pitchFamily="18" charset="0"/>
                <a:ea typeface="Calibri" panose="020F0502020204030204" pitchFamily="34" charset="0"/>
              </a:rPr>
              <a:t>Medija</a:t>
            </a:r>
            <a:r>
              <a:rPr lang="en-US" b="1" dirty="0"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dirty="0">
                <a:latin typeface="Times New Roman" panose="02020603050405020304" pitchFamily="18" charset="0"/>
                <a:ea typeface="Calibri" panose="020F0502020204030204" pitchFamily="34" charset="0"/>
              </a:rPr>
              <a:t>– </a:t>
            </a:r>
            <a:r>
              <a:rPr lang="en-US" dirty="0" err="1">
                <a:latin typeface="Times New Roman" panose="02020603050405020304" pitchFamily="18" charset="0"/>
                <a:ea typeface="Calibri" panose="020F0502020204030204" pitchFamily="34" charset="0"/>
              </a:rPr>
              <a:t>kvar</a:t>
            </a:r>
            <a:r>
              <a:rPr lang="en-US" dirty="0"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Calibri" panose="020F0502020204030204" pitchFamily="34" charset="0"/>
              </a:rPr>
              <a:t>ili</a:t>
            </a:r>
            <a:r>
              <a:rPr lang="en-US" dirty="0"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Calibri" panose="020F0502020204030204" pitchFamily="34" charset="0"/>
              </a:rPr>
              <a:t>korupcija</a:t>
            </a:r>
            <a:r>
              <a:rPr lang="en-US" dirty="0"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Calibri" panose="020F0502020204030204" pitchFamily="34" charset="0"/>
              </a:rPr>
              <a:t>diska</a:t>
            </a:r>
            <a:endParaRPr lang="en-US" b="1" dirty="0">
              <a:effectLst/>
              <a:latin typeface="Times New Roman" panose="02020603050405020304" pitchFamily="18" charset="0"/>
              <a:ea typeface="Calibri" panose="020F0502020204030204" pitchFamily="34" charset="0"/>
            </a:endParaRPr>
          </a:p>
          <a:p>
            <a:pPr algn="just"/>
            <a:r>
              <a:rPr lang="en-US" sz="180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ACID </a:t>
            </a:r>
            <a:r>
              <a:rPr lang="en-US" sz="1800" dirty="0" err="1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svojstva</a:t>
            </a:r>
            <a:r>
              <a:rPr lang="en-US" sz="180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transakcije</a:t>
            </a:r>
            <a:r>
              <a:rPr lang="en-US" sz="180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21643615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5058DA-4161-4783-9A2B-202B4DFB46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Oporavak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1A504C-5060-4AEB-B8BC-6E70524DD1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36640" y="1346670"/>
            <a:ext cx="7499639" cy="4240398"/>
          </a:xfrm>
        </p:spPr>
        <p:txBody>
          <a:bodyPr>
            <a:noAutofit/>
          </a:bodyPr>
          <a:lstStyle/>
          <a:p>
            <a:pPr algn="just"/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Akcije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tokom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normalnog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funkcionisanja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+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akcije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nakon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pada</a:t>
            </a:r>
          </a:p>
          <a:p>
            <a:pPr algn="just"/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Pomoćne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strukture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rezervna</a:t>
            </a: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kopija</a:t>
            </a: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baze</a:t>
            </a: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(backup)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log </a:t>
            </a:r>
            <a:r>
              <a:rPr lang="en-US" sz="1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datoteka</a:t>
            </a:r>
            <a:endParaRPr lang="en-US" sz="1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Commit/ Abort</a:t>
            </a:r>
          </a:p>
          <a:p>
            <a:pPr algn="just"/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W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rite </a:t>
            </a: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head </a:t>
            </a: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ogging</a:t>
            </a:r>
          </a:p>
          <a:p>
            <a:pPr algn="just"/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ARIES: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Analiza</a:t>
            </a: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REDO, UNDO</a:t>
            </a:r>
          </a:p>
          <a:p>
            <a:pPr algn="just"/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RTO 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(Recovery </a:t>
            </a: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Objective)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RPO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(Recovery </a:t>
            </a: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Point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Objective)</a:t>
            </a:r>
            <a:endParaRPr lang="en-US" sz="1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488816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C99462-06E4-45C4-8C67-62C2FF5CC1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MongoDB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85451F-1708-4E04-AFEB-41E93FC526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21862" y="1555206"/>
            <a:ext cx="5271114" cy="4494738"/>
          </a:xfrm>
        </p:spPr>
        <p:txBody>
          <a:bodyPr>
            <a:normAutofit/>
          </a:bodyPr>
          <a:lstStyle/>
          <a:p>
            <a:pPr algn="just"/>
            <a:r>
              <a:rPr lang="en-US" sz="18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Bekap</a:t>
            </a:r>
            <a:r>
              <a:rPr lang="en-US" sz="1800" dirty="0">
                <a:latin typeface="Times New Roman" panose="02020603050405020304" pitchFamily="18" charset="0"/>
                <a:ea typeface="Calibri" panose="020F0502020204030204" pitchFamily="34" charset="0"/>
              </a:rPr>
              <a:t> = </a:t>
            </a:r>
            <a:r>
              <a:rPr lang="en-US" sz="1800" dirty="0" err="1">
                <a:latin typeface="Times New Roman" panose="02020603050405020304" pitchFamily="18" charset="0"/>
                <a:ea typeface="Calibri" panose="020F0502020204030204" pitchFamily="34" charset="0"/>
              </a:rPr>
              <a:t>čuvanje</a:t>
            </a:r>
            <a:r>
              <a:rPr lang="en-US" sz="1800" dirty="0">
                <a:latin typeface="Times New Roman" panose="02020603050405020304" pitchFamily="18" charset="0"/>
                <a:ea typeface="Calibri" panose="020F0502020204030204" pitchFamily="34" charset="0"/>
              </a:rPr>
              <a:t>:</a:t>
            </a:r>
            <a:endParaRPr lang="en-US" sz="1800" dirty="0">
              <a:effectLst/>
              <a:latin typeface="Times New Roman" panose="02020603050405020304" pitchFamily="18" charset="0"/>
              <a:ea typeface="Calibri" panose="020F0502020204030204" pitchFamily="34" charset="0"/>
            </a:endParaRPr>
          </a:p>
          <a:p>
            <a:pPr lvl="1" algn="just"/>
            <a:r>
              <a:rPr lang="en-US" b="1" dirty="0" err="1">
                <a:latin typeface="Times New Roman" panose="02020603050405020304" pitchFamily="18" charset="0"/>
                <a:ea typeface="Calibri" panose="020F0502020204030204" pitchFamily="34" charset="0"/>
              </a:rPr>
              <a:t>Potpuni</a:t>
            </a:r>
            <a:r>
              <a:rPr lang="en-US" dirty="0">
                <a:latin typeface="Times New Roman" panose="02020603050405020304" pitchFamily="18" charset="0"/>
                <a:ea typeface="Calibri" panose="020F0502020204030204" pitchFamily="34" charset="0"/>
              </a:rPr>
              <a:t> – </a:t>
            </a:r>
            <a:r>
              <a:rPr lang="en-US" dirty="0" err="1">
                <a:latin typeface="Times New Roman" panose="02020603050405020304" pitchFamily="18" charset="0"/>
                <a:ea typeface="Calibri" panose="020F0502020204030204" pitchFamily="34" charset="0"/>
              </a:rPr>
              <a:t>cele</a:t>
            </a:r>
            <a:r>
              <a:rPr lang="en-US" dirty="0"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Calibri" panose="020F0502020204030204" pitchFamily="34" charset="0"/>
              </a:rPr>
              <a:t>baze</a:t>
            </a:r>
            <a:r>
              <a:rPr lang="en-US" dirty="0">
                <a:latin typeface="Times New Roman" panose="02020603050405020304" pitchFamily="18" charset="0"/>
                <a:ea typeface="Calibri" panose="020F0502020204030204" pitchFamily="34" charset="0"/>
              </a:rPr>
              <a:t>,</a:t>
            </a:r>
          </a:p>
          <a:p>
            <a:pPr lvl="1" algn="just"/>
            <a:r>
              <a:rPr lang="en-US" b="1" dirty="0" err="1">
                <a:latin typeface="Times New Roman" panose="02020603050405020304" pitchFamily="18" charset="0"/>
                <a:ea typeface="Calibri" panose="020F0502020204030204" pitchFamily="34" charset="0"/>
              </a:rPr>
              <a:t>Inkrementalni</a:t>
            </a:r>
            <a:r>
              <a:rPr lang="en-US" dirty="0">
                <a:latin typeface="Times New Roman" panose="02020603050405020304" pitchFamily="18" charset="0"/>
                <a:ea typeface="Calibri" panose="020F0502020204030204" pitchFamily="34" charset="0"/>
              </a:rPr>
              <a:t> – </a:t>
            </a:r>
            <a:r>
              <a:rPr lang="en-US" dirty="0" err="1">
                <a:latin typeface="Times New Roman" panose="02020603050405020304" pitchFamily="18" charset="0"/>
                <a:ea typeface="Calibri" panose="020F0502020204030204" pitchFamily="34" charset="0"/>
              </a:rPr>
              <a:t>izmena</a:t>
            </a:r>
            <a:r>
              <a:rPr lang="en-US" dirty="0"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Calibri" panose="020F0502020204030204" pitchFamily="34" charset="0"/>
              </a:rPr>
              <a:t>nakon</a:t>
            </a:r>
            <a:r>
              <a:rPr lang="en-US" dirty="0"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Calibri" panose="020F0502020204030204" pitchFamily="34" charset="0"/>
              </a:rPr>
              <a:t>poslednjeg</a:t>
            </a:r>
            <a:r>
              <a:rPr lang="en-US" dirty="0"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Calibri" panose="020F0502020204030204" pitchFamily="34" charset="0"/>
              </a:rPr>
              <a:t>bekapa</a:t>
            </a:r>
            <a:r>
              <a:rPr lang="en-US" dirty="0">
                <a:latin typeface="Times New Roman" panose="02020603050405020304" pitchFamily="18" charset="0"/>
                <a:ea typeface="Calibri" panose="020F0502020204030204" pitchFamily="34" charset="0"/>
              </a:rPr>
              <a:t>,</a:t>
            </a:r>
          </a:p>
          <a:p>
            <a:pPr lvl="1" algn="just"/>
            <a:r>
              <a:rPr lang="en-US" dirty="0" err="1">
                <a:latin typeface="Times New Roman" panose="02020603050405020304" pitchFamily="18" charset="0"/>
                <a:ea typeface="Calibri" panose="020F0502020204030204" pitchFamily="34" charset="0"/>
              </a:rPr>
              <a:t>Diferencijalni</a:t>
            </a:r>
            <a:r>
              <a:rPr lang="en-US" dirty="0">
                <a:latin typeface="Times New Roman" panose="02020603050405020304" pitchFamily="18" charset="0"/>
                <a:ea typeface="Calibri" panose="020F0502020204030204" pitchFamily="34" charset="0"/>
              </a:rPr>
              <a:t> – </a:t>
            </a:r>
            <a:r>
              <a:rPr lang="en-US" dirty="0" err="1">
                <a:latin typeface="Times New Roman" panose="02020603050405020304" pitchFamily="18" charset="0"/>
                <a:ea typeface="Calibri" panose="020F0502020204030204" pitchFamily="34" charset="0"/>
              </a:rPr>
              <a:t>izmene</a:t>
            </a:r>
            <a:r>
              <a:rPr lang="en-US" dirty="0">
                <a:latin typeface="Times New Roman" panose="02020603050405020304" pitchFamily="18" charset="0"/>
                <a:ea typeface="Calibri" panose="020F0502020204030204" pitchFamily="34" charset="0"/>
              </a:rPr>
              <a:t> od </a:t>
            </a:r>
            <a:r>
              <a:rPr lang="en-US" dirty="0" err="1">
                <a:latin typeface="Times New Roman" panose="02020603050405020304" pitchFamily="18" charset="0"/>
                <a:ea typeface="Calibri" panose="020F0502020204030204" pitchFamily="34" charset="0"/>
              </a:rPr>
              <a:t>poslednjeg</a:t>
            </a:r>
            <a:r>
              <a:rPr lang="en-US" dirty="0"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Calibri" panose="020F0502020204030204" pitchFamily="34" charset="0"/>
              </a:rPr>
              <a:t>potpunog</a:t>
            </a:r>
            <a:r>
              <a:rPr lang="en-US" dirty="0"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ea typeface="Calibri" panose="020F0502020204030204" pitchFamily="34" charset="0"/>
              </a:rPr>
              <a:t>bekapa</a:t>
            </a:r>
            <a:r>
              <a:rPr lang="en-US" dirty="0">
                <a:latin typeface="Times New Roman" panose="02020603050405020304" pitchFamily="18" charset="0"/>
                <a:ea typeface="Calibri" panose="020F0502020204030204" pitchFamily="34" charset="0"/>
              </a:rPr>
              <a:t>.</a:t>
            </a:r>
          </a:p>
          <a:p>
            <a:pPr algn="just"/>
            <a:r>
              <a:rPr lang="en-US" dirty="0" err="1">
                <a:latin typeface="Times New Roman" panose="02020603050405020304" pitchFamily="18" charset="0"/>
                <a:ea typeface="Calibri" panose="020F0502020204030204" pitchFamily="34" charset="0"/>
              </a:rPr>
              <a:t>WiredTiger</a:t>
            </a:r>
            <a:r>
              <a:rPr lang="en-US" dirty="0">
                <a:latin typeface="Times New Roman" panose="02020603050405020304" pitchFamily="18" charset="0"/>
                <a:ea typeface="Calibri" panose="020F0502020204030204" pitchFamily="34" charset="0"/>
              </a:rPr>
              <a:t> storage </a:t>
            </a:r>
          </a:p>
          <a:p>
            <a:pPr algn="just"/>
            <a:endParaRPr lang="en-US" sz="18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F52C7F8-A337-4A1B-BE64-1B63CB6894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05520" y="1660603"/>
            <a:ext cx="3909225" cy="42839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33439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FCDF96-D5AB-4FC8-A4D6-00F52C1A32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Načini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oporavka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u MongoDB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B15C4E-D4D2-4C85-AE01-D07574D64E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37672" y="1885285"/>
            <a:ext cx="3674563" cy="3578141"/>
          </a:xfrm>
        </p:spPr>
        <p:txBody>
          <a:bodyPr>
            <a:normAutofit/>
          </a:bodyPr>
          <a:lstStyle/>
          <a:p>
            <a:pPr algn="just"/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Četiri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porodice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metoda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lvl="1"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MongoDB Atlas</a:t>
            </a:r>
          </a:p>
          <a:p>
            <a:pPr lvl="1"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Cloud/ Ops Manager</a:t>
            </a:r>
          </a:p>
          <a:p>
            <a:pPr lvl="1" algn="just"/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Mongodump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Snapshot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fajl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sistema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 algn="just"/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Picture 5" descr="Mongodump and other MondoDB backup options.">
            <a:extLst>
              <a:ext uri="{FF2B5EF4-FFF2-40B4-BE49-F238E27FC236}">
                <a16:creationId xmlns:a16="http://schemas.microsoft.com/office/drawing/2014/main" id="{552887FC-1B52-41BE-8E69-2521B1FA1299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96027" y="1946122"/>
            <a:ext cx="3558301" cy="296575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63848949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E3C4F2-4056-41AA-814B-587055A8B0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11808" y="808056"/>
            <a:ext cx="2731979" cy="1077229"/>
          </a:xfrm>
        </p:spPr>
        <p:txBody>
          <a:bodyPr/>
          <a:lstStyle/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Atlas Backup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3A3A4C-2AA4-4FAF-9108-1BE23622DA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03806" y="1505587"/>
            <a:ext cx="5867061" cy="3997828"/>
          </a:xfrm>
        </p:spPr>
        <p:txBody>
          <a:bodyPr>
            <a:normAutofit/>
          </a:bodyPr>
          <a:lstStyle/>
          <a:p>
            <a:endParaRPr lang="en-US" sz="1800" dirty="0">
              <a:latin typeface="Times New Roman" panose="02020603050405020304" pitchFamily="18" charset="0"/>
              <a:ea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2053948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D772B1-A955-4393-BCC9-C98B835B12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Cloud/ Ops Manager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BB20C2-65C5-463A-BBE6-79D2369A90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14854" y="1652631"/>
            <a:ext cx="6834206" cy="1712834"/>
          </a:xfrm>
        </p:spPr>
        <p:txBody>
          <a:bodyPr>
            <a:normAutofit/>
          </a:bodyPr>
          <a:lstStyle/>
          <a:p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21667802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D772B1-A955-4393-BCC9-C98B835B12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Snapshot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fajl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sistema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BB20C2-65C5-463A-BBE6-79D2369A90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1808" y="1346670"/>
            <a:ext cx="6882129" cy="2326937"/>
          </a:xfrm>
        </p:spPr>
        <p:txBody>
          <a:bodyPr>
            <a:normAutofit/>
          </a:bodyPr>
          <a:lstStyle/>
          <a:p>
            <a:endParaRPr lang="en-US" sz="1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4000143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F149F0-B5BA-4429-9315-CA1DDA9EFB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Mongodump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/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mongorestore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CA3A20-4CD4-493A-84A5-0D7996A505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22228" y="1573943"/>
            <a:ext cx="8254953" cy="4717800"/>
          </a:xfrm>
        </p:spPr>
        <p:txBody>
          <a:bodyPr>
            <a:noAutofit/>
          </a:bodyPr>
          <a:lstStyle/>
          <a:p>
            <a:pPr algn="just"/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427819269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AABAA4-618F-4ABC-ABAD-911A3FAD2D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Treća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lica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okruženje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C349F5-62DA-42B4-87FB-91B8A18553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23750" y="1501629"/>
            <a:ext cx="8246389" cy="4548315"/>
          </a:xfrm>
        </p:spPr>
        <p:txBody>
          <a:bodyPr>
            <a:normAutofit/>
          </a:bodyPr>
          <a:lstStyle/>
          <a:p>
            <a:pPr algn="just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1778462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6FD232-5D01-47B7-A9A2-8757040CE0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Pregled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206DA1-EB96-4284-AFC7-15383F6BCE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28982" y="1582332"/>
            <a:ext cx="7796540" cy="3997828"/>
          </a:xfrm>
        </p:spPr>
        <p:txBody>
          <a:bodyPr>
            <a:normAutofit/>
          </a:bodyPr>
          <a:lstStyle/>
          <a:p>
            <a:pPr algn="just"/>
            <a:endParaRPr lang="en-US" sz="1800" dirty="0">
              <a:effectLst/>
              <a:latin typeface="Times New Roman" panose="02020603050405020304" pitchFamily="18" charset="0"/>
              <a:ea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4751477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3D22C8-EB91-49E8-8CFA-144314FA9F2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95030" y="3428998"/>
            <a:ext cx="5518066" cy="2268559"/>
          </a:xfrm>
        </p:spPr>
        <p:txBody>
          <a:bodyPr/>
          <a:lstStyle/>
          <a:p>
            <a:r>
              <a:rPr lang="en-US" dirty="0" err="1"/>
              <a:t>Hvala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</a:t>
            </a:r>
            <a:r>
              <a:rPr lang="en-US" dirty="0" err="1"/>
              <a:t>pažnji</a:t>
            </a:r>
            <a:endParaRPr lang="en-US" dirty="0"/>
          </a:p>
        </p:txBody>
      </p:sp>
      <p:pic>
        <p:nvPicPr>
          <p:cNvPr id="1026" name="Picture 2" descr="Download MongoDB Community Server | MongoDB">
            <a:extLst>
              <a:ext uri="{FF2B5EF4-FFF2-40B4-BE49-F238E27FC236}">
                <a16:creationId xmlns:a16="http://schemas.microsoft.com/office/drawing/2014/main" id="{612047F8-EB91-492C-AAE5-4663B122243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6200000">
            <a:off x="7165946" y="1761185"/>
            <a:ext cx="6858000" cy="33356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04450419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Madison">
  <a:themeElements>
    <a:clrScheme name="Madison">
      <a:dk1>
        <a:sysClr val="windowText" lastClr="000000"/>
      </a:dk1>
      <a:lt1>
        <a:sysClr val="window" lastClr="FFFFFF"/>
      </a:lt1>
      <a:dk2>
        <a:srgbClr val="1F2D29"/>
      </a:dk2>
      <a:lt2>
        <a:srgbClr val="C5FAEB"/>
      </a:lt2>
      <a:accent1>
        <a:srgbClr val="A1D68B"/>
      </a:accent1>
      <a:accent2>
        <a:srgbClr val="5EC795"/>
      </a:accent2>
      <a:accent3>
        <a:srgbClr val="4DADCF"/>
      </a:accent3>
      <a:accent4>
        <a:srgbClr val="CDB756"/>
      </a:accent4>
      <a:accent5>
        <a:srgbClr val="E29C36"/>
      </a:accent5>
      <a:accent6>
        <a:srgbClr val="8EC0C1"/>
      </a:accent6>
      <a:hlink>
        <a:srgbClr val="6D9D9B"/>
      </a:hlink>
      <a:folHlink>
        <a:srgbClr val="6D8583"/>
      </a:folHlink>
    </a:clrScheme>
    <a:fontScheme name="Madison">
      <a:majorFont>
        <a:latin typeface="Arial" panose="020B06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Madison">
      <a:fillStyleLst>
        <a:solidFill>
          <a:schemeClr val="phClr"/>
        </a:solidFill>
        <a:gradFill rotWithShape="1">
          <a:gsLst>
            <a:gs pos="0">
              <a:schemeClr val="phClr">
                <a:tint val="48000"/>
                <a:alpha val="88000"/>
                <a:satMod val="105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4000"/>
                <a:satMod val="130000"/>
                <a:lumMod val="92000"/>
              </a:schemeClr>
            </a:gs>
            <a:gs pos="100000">
              <a:schemeClr val="phClr">
                <a:shade val="76000"/>
                <a:satMod val="130000"/>
                <a:lumMod val="88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blipFill rotWithShape="1">
          <a:blip xmlns:r="http://schemas.openxmlformats.org/officeDocument/2006/relationships" r:embed="rId1"/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adison" id="{025CB5FB-2DD3-45EE-B6F0-CC461540EB19}" vid="{6AC10936-2DFC-4054-9ADF-B5E2C5F86190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{80584868-D802-4B00-8B28-916AEA5BAE00}TF37254b02-f5b5-44b0-803d-e6af9466a024d8712c6d-28d3f990fef7</Template>
  <TotalTime>369</TotalTime>
  <Words>158</Words>
  <Application>Microsoft Office PowerPoint</Application>
  <PresentationFormat>Widescreen</PresentationFormat>
  <Paragraphs>37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20" baseType="lpstr">
      <vt:lpstr>Arial</vt:lpstr>
      <vt:lpstr>Calibri Light</vt:lpstr>
      <vt:lpstr>MS Shell Dlg 2</vt:lpstr>
      <vt:lpstr>Times New Roman</vt:lpstr>
      <vt:lpstr>Wingdings</vt:lpstr>
      <vt:lpstr>Wingdings 3</vt:lpstr>
      <vt:lpstr>Madison</vt:lpstr>
      <vt:lpstr>Backup/ Restore MongoDB baze podataka</vt:lpstr>
      <vt:lpstr>Sadržaj</vt:lpstr>
      <vt:lpstr>Uvod</vt:lpstr>
      <vt:lpstr>Oporavak</vt:lpstr>
      <vt:lpstr>MongoDB</vt:lpstr>
      <vt:lpstr>Načini oporavka u MongoDB</vt:lpstr>
      <vt:lpstr>Atlas Backup</vt:lpstr>
      <vt:lpstr>Cloud/ Ops Manager</vt:lpstr>
      <vt:lpstr>Snapshot fajl sistema</vt:lpstr>
      <vt:lpstr>Mongodump/ mongorestore</vt:lpstr>
      <vt:lpstr>Treća lica i okruženje</vt:lpstr>
      <vt:lpstr>Pregled</vt:lpstr>
      <vt:lpstr>Hvala na pažnji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Interna struktura i organizacija indeksa kod MongoDB baze podataka </dc:title>
  <dc:creator>anita.al1711@gmail.com</dc:creator>
  <cp:lastModifiedBy>Kristina Joksimović</cp:lastModifiedBy>
  <cp:revision>148</cp:revision>
  <dcterms:created xsi:type="dcterms:W3CDTF">2025-11-13T13:27:34Z</dcterms:created>
  <dcterms:modified xsi:type="dcterms:W3CDTF">2025-11-13T20:10:26Z</dcterms:modified>
</cp:coreProperties>
</file>